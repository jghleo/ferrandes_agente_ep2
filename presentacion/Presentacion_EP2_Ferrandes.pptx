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Agente Ferrandes</a:t>
            </a:r>
          </a:p>
          <a:p>
            <a:pPr>
              <a:defRPr sz="2200">
                <a:solidFill>
                  <a:srgbClr val="2E86DE"/>
                </a:solidFill>
              </a:defRPr>
            </a:pPr>
            <a:r>
              <a:t>Automatización del flujo B2B — Ferretería Industrial Andes SpA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Evaluación Parcial N°2 · ISY0101 · Ingeniería de Soluciones con IA</a:t>
            </a:r>
          </a:p>
          <a:p>
            <a:pPr>
              <a:defRPr sz="1600">
                <a:solidFill>
                  <a:srgbClr val="2E86DE"/>
                </a:solidFill>
              </a:defRPr>
            </a:pPr>
            <a:r>
              <a:t>Integrantes: ⬅ completar  |  Docente: Juan Burgueño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Contexto y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FERRANDES (Concepción): venta y distribución B2B de tornillería, herramientas, EPP y materiales.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Proceso actual manual: stock → descuento/IVA → cotización → crédito → confirmación.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Demoras de horas, errores de cálculo y sin trazabilidad (SLA 48h de despacho).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EP1: prototipo RAG de asistente (respuestas).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EP2: agente FUNCIONAL que ejecuta acciones y decide (LangChain).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Solución: agente orquestador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3 familias de herramientas: CONSULTA · ESCRITURA · RAZONAMIENTO (13 tools).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Memoria de corto plazo (sesión) + largo plazo (SQLite) para flujos prolongados.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Planificador: esquema priorizado de 6 etapas con inyección adaptativa.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Framework: LangChain create_agent (grafo start→model→tools→model→end).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LLM real (Claude) o modelo simulado sin costo para evaluar.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Arquitectura y orquestación</a:t>
            </a:r>
          </a:p>
        </p:txBody>
      </p:sp>
      <p:pic>
        <p:nvPicPr>
          <p:cNvPr id="4" name="Picture 3" descr="diagram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97280"/>
            <a:ext cx="7386348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Herramientas del agente (IL2.1)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CONSULTA</a:t>
            </a:r>
          </a:p>
          <a:p>
            <a:pPr>
              <a:defRPr sz="1600">
                <a:solidFill>
                  <a:srgbClr val="606060"/>
                </a:solidFill>
              </a:defRPr>
            </a:pPr>
            <a:r>
              <a:t>stock, precio, catálogo, ficha, pedido, cotización → lectura sin 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971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ESCRITURA</a:t>
            </a:r>
          </a:p>
          <a:p>
            <a:pPr>
              <a:defRPr sz="1600">
                <a:solidFill>
                  <a:srgbClr val="606060"/>
                </a:solidFill>
              </a:defRPr>
            </a:pPr>
            <a:r>
              <a:t>cotización, pedido, orden de reposición, ticket → persistente + trazabilidad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63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RAZONAMIENTO</a:t>
            </a:r>
          </a:p>
          <a:p>
            <a:pPr>
              <a:defRPr sz="1600">
                <a:solidFill>
                  <a:srgbClr val="606060"/>
                </a:solidFill>
              </a:defRPr>
            </a:pPr>
            <a:r>
              <a:t>riesgo de crédito, reposición, plan de pedido → decisión adaptativa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Memoria y recuperación de contexto (IL2.2)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Corto plazo: buffer por sesión + resumen comprimido (coherencia en el diálogo).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Largo plazo (SQLite): clientes, cotizaciones, pedidos con historial de etapas, tickets y OC.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Continuidad: cotización de la sesión A → confirmación/estado en la sesión B (persistencia real).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Recuperación de contexto: retriever semántico TF-IDF + embeddings densos opcionales (IE4).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Trazabilidad: evidencia/logs_agente.jsonl con fuentes y decisiones por consulta.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Recuperación semántica: mejora y métricas (IE4)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Similitud coseno sobre vectores TF-IDF (pondera términos discriminantes y normaliza).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Normalización morfológica ligera: “ubicados” empareja con “ubicación”.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Embeddings densos opcionales (sentence-transformers) sin cambiar la interfaz.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Medición objetiva: evaluar_recuperacion() → hit-rate@k y MRR.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Resultado: hit-rate@3 = 100 % · MRR = 1,00 (8 consultas etiquetadas).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Planificación y decisiones adaptativas (IL2.3)</a:t>
            </a:r>
          </a:p>
        </p:txBody>
      </p:sp>
      <p:pic>
        <p:nvPicPr>
          <p:cNvPr id="4" name="Picture 3" descr="diagrama_flujo_ped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2627724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06240" y="1234440"/>
            <a:ext cx="749807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67E22"/>
                </a:solidFill>
              </a:defRPr>
            </a:pPr>
            <a:r>
              <a:t>Plan priorizado por criticidad (6 etapas).</a:t>
            </a:r>
          </a:p>
          <a:p>
            <a:pPr>
              <a:spcAft>
                <a:spcPts val="800"/>
              </a:spcAft>
              <a:defRPr sz="1500">
                <a:solidFill>
                  <a:srgbClr val="E67E22"/>
                </a:solidFill>
              </a:defRPr>
            </a:pPr>
            <a:r>
              <a:t>Stock bajo → OC automática + entrega programada.</a:t>
            </a:r>
          </a:p>
          <a:p>
            <a:pPr>
              <a:spcAft>
                <a:spcPts val="800"/>
              </a:spcAft>
              <a:defRPr sz="1500">
                <a:solidFill>
                  <a:srgbClr val="E67E22"/>
                </a:solidFill>
              </a:defRPr>
            </a:pPr>
            <a:r>
              <a:t>Monto &gt; cupo/umbral → EN_APROBACION + ticket.</a:t>
            </a:r>
          </a:p>
          <a:p>
            <a:pPr>
              <a:spcAft>
                <a:spcPts val="800"/>
              </a:spcAft>
              <a:defRPr sz="1500">
                <a:solidFill>
                  <a:srgbClr val="E67E22"/>
                </a:solidFill>
              </a:defRPr>
            </a:pPr>
            <a:r>
              <a:t>Cliente nuevo → pago contra entrega.</a:t>
            </a:r>
          </a:p>
          <a:p>
            <a:pPr>
              <a:spcAft>
                <a:spcPts val="800"/>
              </a:spcAft>
              <a:defRPr sz="1500">
                <a:solidFill>
                  <a:srgbClr val="E67E22"/>
                </a:solidFill>
              </a:defRPr>
            </a:pPr>
            <a:r>
              <a:t>Normativa EPP → deriva a especialista (guardrail).</a:t>
            </a:r>
          </a:p>
          <a:p>
            <a:pPr>
              <a:spcAft>
                <a:spcPts val="800"/>
              </a:spcAft>
              <a:defRPr sz="1500">
                <a:solidFill>
                  <a:srgbClr val="E67E22"/>
                </a:solidFill>
              </a:defRPr>
            </a:pPr>
            <a:r>
              <a:t>Ítems inválidos → REPLANIFICA y continúa.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Justificación de la orquestación (IE8, IE9)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LangChain create_agent: grafo oficial, documentado, cambia de modelo (Claude o simulado).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Herramientas puras por familia (consulta/escritura/razonamiento): separación de efectos y testeo.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SQLite como memoria de largo plazo: persistencia sin servidor, migrable a PostgreSQL.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Retriever TF-IDF: precisión medible hoy y ruta directa a embeddings/vector store.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Planificador priorizado: cada paso ligado a un requisito del flujo (stock, crédito, SLA).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1) Consulta de stock y precio (herramienta de consulta).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2) Pedido con faltante TOR-002: el agente emite OC y cotiza (adaptación).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3) Pedido que supera cupo: escalamiento a vendedor con ticket.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4) Ítems inválidos: replanifica y continúa con los válidos.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Comando: python scripts/demo.py   |   python tests/ejecutar_tests.py</a:t>
            </a:r>
          </a:p>
          <a:p>
            <a:pPr>
              <a:spcAft>
                <a:spcPts val="800"/>
              </a:spcAft>
              <a:defRPr sz="1600">
                <a:solidFill>
                  <a:srgbClr val="606060"/>
                </a:solidFill>
              </a:defRPr>
            </a:pPr>
            <a:r>
              <a:t>Respaldo si falla en vivo: evidencia/ + notebook de Colab ya ejecutado.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Evidencia y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38 pruebas unitarias validadas (tests/ejecutar_tests.py) — todas 'ok'.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11 escenarios de negocio en evidencia/evidencia_pruebas.txt.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Retriever: hit-rate@3 = 100 % · MRR = 1,00 (8 consultas etiquetadas).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Flujos: PEDIDO_CONFIRMADO, EN_APROBACION, DERIVADO, REPLANIFICADO.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README + diagramas de orquestación + informe técnico (≤5 páginas).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Retos, límites y 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Límite: el grafo LangChain se validó con un LLM simulado (sin API key en la sala).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Límite: el retriever es TF-IDF; los embeddings densos son opcionales.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Próximo paso: embeddings reales + vector store (Chroma/FAISS) y medición de calidad.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Próximo paso: memoria LangChain explícita en el grafo (checkpointer) y traza con LLM real.</a:t>
            </a:r>
          </a:p>
          <a:p>
            <a:pPr>
              <a:spcAft>
                <a:spcPts val="800"/>
              </a:spcAft>
              <a:defRPr sz="1700">
                <a:solidFill>
                  <a:srgbClr val="606060"/>
                </a:solidFill>
              </a:defRPr>
            </a:pPr>
            <a:r>
              <a:t>Próximo paso: despliegue con PostgreSQL y pruebas con datos de producción.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1695" cy="914400"/>
          </a:xfrm>
          <a:prstGeom prst="rect">
            <a:avLst/>
          </a:prstGeom>
          <a:noFill/>
        </p:spPr>
        <p:txBody>
          <a:bodyPr wrap="none" lIns="457200" tIns="137160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Decisiones de diseño justificadas por alineación con el flujo (IE9).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Autonomía demostrada: decisión adaptativa ante stock, crédito, normativa e ítems inválidos.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Repositorio: código + documentación + evidencia reproducible (38 pruebas, hit-rate@3 100 %).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Siguiente paso: embeddings reales (Chroma/FAISS), memoria LangChain y despliegue.</a:t>
            </a:r>
          </a:p>
          <a:p>
            <a:pPr>
              <a:spcAft>
                <a:spcPts val="800"/>
              </a:spcAft>
              <a:defRPr sz="1800">
                <a:solidFill>
                  <a:srgbClr val="606060"/>
                </a:solidFill>
              </a:defRPr>
            </a:pPr>
            <a:r>
              <a:t>¡Gracias! Preguntas 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