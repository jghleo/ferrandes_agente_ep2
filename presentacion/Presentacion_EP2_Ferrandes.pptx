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Agente Ferrandes</a:t>
            </a:r>
          </a:p>
          <a:p>
            <a:pPr>
              <a:defRPr sz="2200">
                <a:solidFill>
                  <a:srgbClr val="2E86DE"/>
                </a:solidFill>
              </a:defRPr>
            </a:pPr>
            <a:r>
              <a:t>Automatización del flujo B2B — Ferretería Industrial Andes SpA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Evaluación Parcial N°2 · ISY0101 · Ingeniería de Soluciones con IA</a:t>
            </a:r>
          </a:p>
          <a:p>
            <a:pPr>
              <a:defRPr sz="1600">
                <a:solidFill>
                  <a:srgbClr val="2E86DE"/>
                </a:solidFill>
              </a:defRPr>
            </a:pPr>
            <a:r>
              <a:t>Integrantes: ⬅ completar  |  Docente: Juan Burgueño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noFill/>
        </p:spPr>
        <p:txBody>
          <a:bodyPr wrap="none" lIns="457200" tIns="137160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Contexto y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606060"/>
                </a:solidFill>
              </a:defRPr>
            </a:pPr>
            <a:r>
              <a:t>FERRANDES (Concepción): venta y distribución B2B de tornillería, herramientas, EPP y materiales.</a:t>
            </a:r>
          </a:p>
          <a:p>
            <a:pPr>
              <a:spcAft>
                <a:spcPts val="800"/>
              </a:spcAft>
              <a:defRPr sz="1800">
                <a:solidFill>
                  <a:srgbClr val="606060"/>
                </a:solidFill>
              </a:defRPr>
            </a:pPr>
            <a:r>
              <a:t>Proceso actual manual: stock → descuento/IVA → cotización → crédito → confirmación.</a:t>
            </a:r>
          </a:p>
          <a:p>
            <a:pPr>
              <a:spcAft>
                <a:spcPts val="800"/>
              </a:spcAft>
              <a:defRPr sz="1800">
                <a:solidFill>
                  <a:srgbClr val="606060"/>
                </a:solidFill>
              </a:defRPr>
            </a:pPr>
            <a:r>
              <a:t>Demoras de horas, errores de cálculo y sin trazabilidad (SLA 48h de despacho).</a:t>
            </a:r>
          </a:p>
          <a:p>
            <a:pPr>
              <a:spcAft>
                <a:spcPts val="800"/>
              </a:spcAft>
              <a:defRPr sz="1800">
                <a:solidFill>
                  <a:srgbClr val="606060"/>
                </a:solidFill>
              </a:defRPr>
            </a:pPr>
            <a:r>
              <a:t>EP1: prototipo RAG de asistente (respuestas).</a:t>
            </a:r>
          </a:p>
          <a:p>
            <a:pPr>
              <a:spcAft>
                <a:spcPts val="800"/>
              </a:spcAft>
              <a:defRPr sz="1800">
                <a:solidFill>
                  <a:srgbClr val="606060"/>
                </a:solidFill>
              </a:defRPr>
            </a:pPr>
            <a:r>
              <a:t>EP2: agente FUNCIONAL que ejecuta acciones y decide (LangChain).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noFill/>
        </p:spPr>
        <p:txBody>
          <a:bodyPr wrap="none" lIns="457200" tIns="137160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Solución: agente orquestador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606060"/>
                </a:solidFill>
              </a:defRPr>
            </a:pPr>
            <a:r>
              <a:t>3 familias de herramientas: CONSULTA · ESCRITURA · RAZONAMIENTO (13 tools).</a:t>
            </a:r>
          </a:p>
          <a:p>
            <a:pPr>
              <a:spcAft>
                <a:spcPts val="800"/>
              </a:spcAft>
              <a:defRPr sz="1800">
                <a:solidFill>
                  <a:srgbClr val="606060"/>
                </a:solidFill>
              </a:defRPr>
            </a:pPr>
            <a:r>
              <a:t>Memoria de corto plazo (sesión) + largo plazo (SQLite) para flujos prolongados.</a:t>
            </a:r>
          </a:p>
          <a:p>
            <a:pPr>
              <a:spcAft>
                <a:spcPts val="800"/>
              </a:spcAft>
              <a:defRPr sz="1800">
                <a:solidFill>
                  <a:srgbClr val="606060"/>
                </a:solidFill>
              </a:defRPr>
            </a:pPr>
            <a:r>
              <a:t>Planificador: esquema priorizado de 6 etapas con inyección adaptativa.</a:t>
            </a:r>
          </a:p>
          <a:p>
            <a:pPr>
              <a:spcAft>
                <a:spcPts val="800"/>
              </a:spcAft>
              <a:defRPr sz="1800">
                <a:solidFill>
                  <a:srgbClr val="606060"/>
                </a:solidFill>
              </a:defRPr>
            </a:pPr>
            <a:r>
              <a:t>Framework: LangChain create_agent (grafo start→model→tools→model→end).</a:t>
            </a:r>
          </a:p>
          <a:p>
            <a:pPr>
              <a:spcAft>
                <a:spcPts val="800"/>
              </a:spcAft>
              <a:defRPr sz="1800">
                <a:solidFill>
                  <a:srgbClr val="606060"/>
                </a:solidFill>
              </a:defRPr>
            </a:pPr>
            <a:r>
              <a:t>LLM real (Claude) o modelo simulado sin costo para evaluar.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noFill/>
        </p:spPr>
        <p:txBody>
          <a:bodyPr wrap="none" lIns="457200" tIns="137160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Arquitectura y orquestación</a:t>
            </a:r>
          </a:p>
        </p:txBody>
      </p:sp>
      <p:pic>
        <p:nvPicPr>
          <p:cNvPr id="4" name="Picture 3" descr="diagrama_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738634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noFill/>
        </p:spPr>
        <p:txBody>
          <a:bodyPr wrap="none" lIns="457200" tIns="137160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Herramientas del agente (IL2.1)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7E22"/>
                </a:solidFill>
              </a:defRPr>
            </a:pPr>
            <a:r>
              <a:t>CONSULTA</a:t>
            </a:r>
          </a:p>
          <a:p>
            <a:pPr>
              <a:defRPr sz="1600">
                <a:solidFill>
                  <a:srgbClr val="606060"/>
                </a:solidFill>
              </a:defRPr>
            </a:pPr>
            <a:r>
              <a:t>stock, precio, catálogo, ficha, pedido, cotización → lectura sin efectos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71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7E22"/>
                </a:solidFill>
              </a:defRPr>
            </a:pPr>
            <a:r>
              <a:t>ESCRITURA</a:t>
            </a:r>
          </a:p>
          <a:p>
            <a:pPr>
              <a:defRPr sz="1600">
                <a:solidFill>
                  <a:srgbClr val="606060"/>
                </a:solidFill>
              </a:defRPr>
            </a:pPr>
            <a:r>
              <a:t>cotización, pedido, orden de reposición, ticket → persistente + trazabilidad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634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7E22"/>
                </a:solidFill>
              </a:defRPr>
            </a:pPr>
            <a:r>
              <a:t>RAZONAMIENTO</a:t>
            </a:r>
          </a:p>
          <a:p>
            <a:pPr>
              <a:defRPr sz="1600">
                <a:solidFill>
                  <a:srgbClr val="606060"/>
                </a:solidFill>
              </a:defRPr>
            </a:pPr>
            <a:r>
              <a:t>riesgo de crédito, reposición, plan de pedido → decisión adaptativa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noFill/>
        </p:spPr>
        <p:txBody>
          <a:bodyPr wrap="none" lIns="457200" tIns="137160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Memoria y recuperación de contexto (IL2.2)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606060"/>
                </a:solidFill>
              </a:defRPr>
            </a:pPr>
            <a:r>
              <a:t>Corto plazo: buffer por sesión + resumen comprimido (coherencia en el diálogo).</a:t>
            </a:r>
          </a:p>
          <a:p>
            <a:pPr>
              <a:spcAft>
                <a:spcPts val="800"/>
              </a:spcAft>
              <a:defRPr sz="1700">
                <a:solidFill>
                  <a:srgbClr val="606060"/>
                </a:solidFill>
              </a:defRPr>
            </a:pPr>
            <a:r>
              <a:t>Largo plazo (SQLite): clientes, cotizaciones, pedidos con historial de etapas, tickets y OC.</a:t>
            </a:r>
          </a:p>
          <a:p>
            <a:pPr>
              <a:spcAft>
                <a:spcPts val="800"/>
              </a:spcAft>
              <a:defRPr sz="1700">
                <a:solidFill>
                  <a:srgbClr val="606060"/>
                </a:solidFill>
              </a:defRPr>
            </a:pPr>
            <a:r>
              <a:t>Continuidad: cotización de la sesión A → confirmación/estado en la sesión B (persistencia real).</a:t>
            </a:r>
          </a:p>
          <a:p>
            <a:pPr>
              <a:spcAft>
                <a:spcPts val="800"/>
              </a:spcAft>
              <a:defRPr sz="1700">
                <a:solidFill>
                  <a:srgbClr val="606060"/>
                </a:solidFill>
              </a:defRPr>
            </a:pPr>
            <a:r>
              <a:t>Recuperación semántica (RAG): retriever sobre catálogo, políticas y FAQs (mismo enfoque EP1).</a:t>
            </a:r>
          </a:p>
          <a:p>
            <a:pPr>
              <a:spcAft>
                <a:spcPts val="800"/>
              </a:spcAft>
              <a:defRPr sz="1700">
                <a:solidFill>
                  <a:srgbClr val="606060"/>
                </a:solidFill>
              </a:defRPr>
            </a:pPr>
            <a:r>
              <a:t>Trazabilidad: evidencia/logs_agente.jsonl con fuentes y decisiones por consulta.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noFill/>
        </p:spPr>
        <p:txBody>
          <a:bodyPr wrap="none" lIns="457200" tIns="137160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Planificación y decisiones adaptativas (IL2.3)</a:t>
            </a:r>
          </a:p>
        </p:txBody>
      </p:sp>
      <p:pic>
        <p:nvPicPr>
          <p:cNvPr id="4" name="Picture 3" descr="diagrama_flujo_ped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2627724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37160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67E22"/>
                </a:solidFill>
              </a:defRPr>
            </a:pPr>
            <a:r>
              <a:t>Stock bajo → OC automática + entrega programada.</a:t>
            </a:r>
          </a:p>
          <a:p>
            <a:pPr>
              <a:spcAft>
                <a:spcPts val="800"/>
              </a:spcAft>
              <a:defRPr sz="1600">
                <a:solidFill>
                  <a:srgbClr val="E67E22"/>
                </a:solidFill>
              </a:defRPr>
            </a:pPr>
            <a:r>
              <a:t>Monto &gt; cupo/umbral → EN_APROBACION + ticket.</a:t>
            </a:r>
          </a:p>
          <a:p>
            <a:pPr>
              <a:spcAft>
                <a:spcPts val="800"/>
              </a:spcAft>
              <a:defRPr sz="1600">
                <a:solidFill>
                  <a:srgbClr val="E67E22"/>
                </a:solidFill>
              </a:defRPr>
            </a:pPr>
            <a:r>
              <a:t>Cliente nuevo → pago contra entrega.</a:t>
            </a:r>
          </a:p>
          <a:p>
            <a:pPr>
              <a:spcAft>
                <a:spcPts val="800"/>
              </a:spcAft>
              <a:defRPr sz="1600">
                <a:solidFill>
                  <a:srgbClr val="E67E22"/>
                </a:solidFill>
              </a:defRPr>
            </a:pPr>
            <a:r>
              <a:t>Normativa EPP → deriva a especialista (guardrail).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noFill/>
        </p:spPr>
        <p:txBody>
          <a:bodyPr wrap="none" lIns="457200" tIns="137160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606060"/>
                </a:solidFill>
              </a:defRPr>
            </a:pPr>
            <a:r>
              <a:t>1) Consulta de stock y precio (herramienta de consulta).</a:t>
            </a:r>
          </a:p>
          <a:p>
            <a:pPr>
              <a:spcAft>
                <a:spcPts val="800"/>
              </a:spcAft>
              <a:defRPr sz="1800">
                <a:solidFill>
                  <a:srgbClr val="606060"/>
                </a:solidFill>
              </a:defRPr>
            </a:pPr>
            <a:r>
              <a:t>2) Pedido con faltante TOR-002: el agente emite OC y cotiza (adaptación).</a:t>
            </a:r>
          </a:p>
          <a:p>
            <a:pPr>
              <a:spcAft>
                <a:spcPts val="800"/>
              </a:spcAft>
              <a:defRPr sz="1800">
                <a:solidFill>
                  <a:srgbClr val="606060"/>
                </a:solidFill>
              </a:defRPr>
            </a:pPr>
            <a:r>
              <a:t>3) Pedido que supera cupo: escalamiento a vendedor con ticket.</a:t>
            </a:r>
          </a:p>
          <a:p>
            <a:pPr>
              <a:spcAft>
                <a:spcPts val="800"/>
              </a:spcAft>
              <a:defRPr sz="1800">
                <a:solidFill>
                  <a:srgbClr val="606060"/>
                </a:solidFill>
              </a:defRPr>
            </a:pPr>
            <a:r>
              <a:t>4) Memoria: estado del pedido PAT-000001 retomado en otra consulta.</a:t>
            </a:r>
          </a:p>
          <a:p>
            <a:pPr>
              <a:spcAft>
                <a:spcPts val="800"/>
              </a:spcAft>
              <a:defRPr sz="1800">
                <a:solidFill>
                  <a:srgbClr val="606060"/>
                </a:solidFill>
              </a:defRPr>
            </a:pPr>
            <a:r>
              <a:t>Comando: python scripts/demo.py (sin API, sin costo).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noFill/>
        </p:spPr>
        <p:txBody>
          <a:bodyPr wrap="none" lIns="457200" tIns="137160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Evidencia y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606060"/>
                </a:solidFill>
              </a:defRPr>
            </a:pPr>
            <a:r>
              <a:t>29 pruebas unitarias validadas (tests/ejecutar_tests.py) — todas 'ok'.</a:t>
            </a:r>
          </a:p>
          <a:p>
            <a:pPr>
              <a:spcAft>
                <a:spcPts val="800"/>
              </a:spcAft>
              <a:defRPr sz="1700">
                <a:solidFill>
                  <a:srgbClr val="606060"/>
                </a:solidFill>
              </a:defRPr>
            </a:pPr>
            <a:r>
              <a:t>9 escenarios de negocio en evidencia/evidencia_pruebas.txt.</a:t>
            </a:r>
          </a:p>
          <a:p>
            <a:pPr>
              <a:spcAft>
                <a:spcPts val="800"/>
              </a:spcAft>
              <a:defRPr sz="1700">
                <a:solidFill>
                  <a:srgbClr val="606060"/>
                </a:solidFill>
              </a:defRPr>
            </a:pPr>
            <a:r>
              <a:t>Smoke test del grafo LangChain offline: evidencia/evidencia_langchain.txt.</a:t>
            </a:r>
          </a:p>
          <a:p>
            <a:pPr>
              <a:spcAft>
                <a:spcPts val="800"/>
              </a:spcAft>
              <a:defRPr sz="1700">
                <a:solidFill>
                  <a:srgbClr val="606060"/>
                </a:solidFill>
              </a:defRPr>
            </a:pPr>
            <a:r>
              <a:t>Flujos: PEDIDO_CONFIRMADO, EN_APROBACION, DERIVADO (guardrail).</a:t>
            </a:r>
          </a:p>
          <a:p>
            <a:pPr>
              <a:spcAft>
                <a:spcPts val="800"/>
              </a:spcAft>
              <a:defRPr sz="1700">
                <a:solidFill>
                  <a:srgbClr val="606060"/>
                </a:solidFill>
              </a:defRPr>
            </a:pPr>
            <a:r>
              <a:t>README + diagramas de orquestación + informe técnico (5 páginas).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noFill/>
        </p:spPr>
        <p:txBody>
          <a:bodyPr wrap="none" lIns="457200" tIns="137160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606060"/>
                </a:solidFill>
              </a:defRPr>
            </a:pPr>
            <a:r>
              <a:t>Decisiones de diseño justificadas por alineación con el flujo (IE9).</a:t>
            </a:r>
          </a:p>
          <a:p>
            <a:pPr>
              <a:spcAft>
                <a:spcPts val="800"/>
              </a:spcAft>
              <a:defRPr sz="1800">
                <a:solidFill>
                  <a:srgbClr val="606060"/>
                </a:solidFill>
              </a:defRPr>
            </a:pPr>
            <a:r>
              <a:t>Autonomía demostrada: decisión adaptativa ante stock, crédito y normativa.</a:t>
            </a:r>
          </a:p>
          <a:p>
            <a:pPr>
              <a:spcAft>
                <a:spcPts val="800"/>
              </a:spcAft>
              <a:defRPr sz="1800">
                <a:solidFill>
                  <a:srgbClr val="606060"/>
                </a:solidFill>
              </a:defRPr>
            </a:pPr>
            <a:r>
              <a:t>Repositorio: código + documentación + evidencia reproducible.</a:t>
            </a:r>
          </a:p>
          <a:p>
            <a:pPr>
              <a:spcAft>
                <a:spcPts val="800"/>
              </a:spcAft>
              <a:defRPr sz="1800">
                <a:solidFill>
                  <a:srgbClr val="606060"/>
                </a:solidFill>
              </a:defRPr>
            </a:pPr>
            <a:r>
              <a:t>Siguiente paso: embeddings reales (Chroma/FAISS) y despliegue en la organización.</a:t>
            </a:r>
          </a:p>
          <a:p>
            <a:pPr>
              <a:spcAft>
                <a:spcPts val="800"/>
              </a:spcAft>
              <a:defRPr sz="1800">
                <a:solidFill>
                  <a:srgbClr val="606060"/>
                </a:solidFill>
              </a:defRPr>
            </a:pPr>
            <a:r>
              <a:t>¡Gracias! Preguntas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